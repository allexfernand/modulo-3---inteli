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82880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3600" b="0" i="0">
                <a:solidFill>
                  <a:srgbClr val="2E2640"/>
                </a:solidFill>
                <a:latin typeface="Platypi"/>
              </a:defRPr>
            </a:pPr>
            <a:r>
              <a:rPr sz="3600" b="0" i="0">
                <a:solidFill>
                  <a:srgbClr val="2E2640"/>
                </a:solidFill>
                <a:latin typeface="Platypi"/>
              </a:rPr>
              <a:t>Monitoramento de Impacto</a:t>
            </a:r>
          </a:p>
          <a:p>
            <a:pPr algn="l">
              <a:lnSpc>
                <a:spcPct val="110000"/>
              </a:lnSpc>
              <a:defRPr sz="3600" b="0" i="0">
                <a:solidFill>
                  <a:srgbClr val="2E2640"/>
                </a:solidFill>
                <a:latin typeface="Platypi"/>
              </a:defRPr>
            </a:pPr>
            <a:r>
              <a:rPr sz="3600" b="0" i="0">
                <a:solidFill>
                  <a:srgbClr val="2E2640"/>
                </a:solidFill>
                <a:latin typeface="Platypi"/>
              </a:rPr>
              <a:t>no Instituto Ebenézer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2900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400" b="0" i="0">
                <a:solidFill>
                  <a:srgbClr val="2E2640"/>
                </a:solidFill>
                <a:latin typeface="Manrope"/>
              </a:defRPr>
            </a:pPr>
            <a:r>
              <a:rPr sz="1400" b="0" i="0">
                <a:solidFill>
                  <a:srgbClr val="2E2640"/>
                </a:solidFill>
                <a:latin typeface="Manrope"/>
              </a:rPr>
              <a:t>Artefato de Negócios · Semana 5 · Módulo 3</a:t>
            </a:r>
          </a:p>
          <a:p>
            <a:pPr algn="l">
              <a:lnSpc>
                <a:spcPct val="130000"/>
              </a:lnSpc>
              <a:defRPr sz="1400" b="0" i="0">
                <a:solidFill>
                  <a:srgbClr val="2E2640"/>
                </a:solidFill>
                <a:latin typeface="Manrope"/>
              </a:defRPr>
            </a:pPr>
            <a:r>
              <a:rPr sz="1400" b="0" i="0">
                <a:solidFill>
                  <a:srgbClr val="2E2640"/>
                </a:solidFill>
                <a:latin typeface="Manrope"/>
              </a:rPr>
              <a:t>Lean Canvas e Product Vision Board · Letícia Fulgêncio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O desafio escolhido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Desafio B: Monitoramento de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Atacamos o Desafio B. O recorte é a evolução socioemocional das crianças do Laboratório de Sonhos, medida como indicador de programa.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O QUE A ORGANIZAÇÃO CONSEGUE AFIRMAR HOJE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Quantas crianças atendeu e quantas vezes cada uma compareceu.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O QUE ELA NÃO CONSEGUE AFIRMAR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O que mudou. A dimensão que o próprio Instituto descreve como central é a única sem instrumento, sem registro estruturado e sem série histórica.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Três evidências que sustentam a escolha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496312" cy="1828800"/>
          </a:xfrm>
          <a:prstGeom prst="rect">
            <a:avLst/>
          </a:prstGeom>
          <a:solidFill>
            <a:srgbClr val="E6EAEB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 spc="100">
                <a:solidFill>
                  <a:srgbClr val="066D73"/>
                </a:solidFill>
                <a:latin typeface="Manrope"/>
              </a:rPr>
              <a:t>EVIDÊNCIA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130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2E2640"/>
                </a:solidFill>
                <a:latin typeface="Platypi"/>
              </a:defRPr>
            </a:pPr>
            <a:r>
              <a:rPr sz="1400" b="0" i="0">
                <a:solidFill>
                  <a:srgbClr val="2E2640"/>
                </a:solidFill>
                <a:latin typeface="Platypi"/>
              </a:rPr>
              <a:t>A lacuna resistiu ao dado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000" b="0" i="0">
                <a:solidFill>
                  <a:srgbClr val="2E2640"/>
                </a:solidFill>
                <a:latin typeface="Manrope"/>
              </a:defRPr>
            </a:pPr>
            <a:r>
              <a:rPr sz="1000" b="0" i="0">
                <a:solidFill>
                  <a:srgbClr val="2E2640"/>
                </a:solidFill>
                <a:latin typeface="Manrope"/>
              </a:rPr>
              <a:t>O Relatório 2025 fechou receita, custo e desempenho escolar. A evolução socioemocional seguiu sem um único número.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9272" y="1143000"/>
            <a:ext cx="2496312" cy="1828800"/>
          </a:xfrm>
          <a:prstGeom prst="rect">
            <a:avLst/>
          </a:prstGeom>
          <a:solidFill>
            <a:srgbClr val="E6EAEB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28016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 spc="100">
                <a:solidFill>
                  <a:srgbClr val="066D73"/>
                </a:solidFill>
                <a:latin typeface="Manrope"/>
              </a:rPr>
              <a:t>EVIDÊNCIA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554480"/>
            <a:ext cx="2130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2E2640"/>
                </a:solidFill>
                <a:latin typeface="Platypi"/>
              </a:defRPr>
            </a:pPr>
            <a:r>
              <a:rPr sz="1400" b="0" i="0">
                <a:solidFill>
                  <a:srgbClr val="2E2640"/>
                </a:solidFill>
                <a:latin typeface="Platypi"/>
              </a:rPr>
              <a:t>O dado que existe não cobre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011680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000" b="0" i="0">
                <a:solidFill>
                  <a:srgbClr val="2E2640"/>
                </a:solidFill>
                <a:latin typeface="Manrope"/>
              </a:defRPr>
            </a:pPr>
            <a:r>
              <a:rPr sz="1000" b="0" i="0">
                <a:solidFill>
                  <a:srgbClr val="2E2640"/>
                </a:solidFill>
                <a:latin typeface="Manrope"/>
              </a:rPr>
              <a:t>A série do Alicerce cobre 58 crianças de um programa. Os outros três programas não têm nenhuma medida de evolução.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3" y="1143000"/>
            <a:ext cx="2496312" cy="1828800"/>
          </a:xfrm>
          <a:prstGeom prst="rect">
            <a:avLst/>
          </a:prstGeom>
          <a:solidFill>
            <a:srgbClr val="E6EAEB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128016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 spc="100">
                <a:solidFill>
                  <a:srgbClr val="066D73"/>
                </a:solidFill>
                <a:latin typeface="Manrope"/>
              </a:rPr>
              <a:t>EVIDÊNCIA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1554480"/>
            <a:ext cx="2130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2E2640"/>
                </a:solidFill>
                <a:latin typeface="Platypi"/>
              </a:defRPr>
            </a:pPr>
            <a:r>
              <a:rPr sz="1400" b="0" i="0">
                <a:solidFill>
                  <a:srgbClr val="2E2640"/>
                </a:solidFill>
                <a:latin typeface="Platypi"/>
              </a:rPr>
              <a:t>Sem dado, a captação vira passivo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2011680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000" b="0" i="0">
                <a:solidFill>
                  <a:srgbClr val="2E2640"/>
                </a:solidFill>
                <a:latin typeface="Manrope"/>
              </a:defRPr>
            </a:pPr>
            <a:r>
              <a:rPr sz="1000" b="0" i="0">
                <a:solidFill>
                  <a:srgbClr val="2E2640"/>
                </a:solidFill>
                <a:latin typeface="Manrope"/>
              </a:rPr>
              <a:t>Financiador por incentivo fiscal cobra prestação de contas. Prestação de contas sem dado é risco, não é receita.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O que essa escolha implica abrir mão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Escolher B significa não endereçar diretamente o Desafio A neste ciclo. Três consequências assumidas: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01 · A CONCENTRAÇÃO DE DOAÇÃO CONTINUA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Um único doador responde por 21,6% da receita de pessoa física. Não mexemos nisso agora.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02 · O CANAL DA LEI ROUANET SEGUE SEM OPERAÇÃO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A prospecção corporativa não entra no escopo.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03 · O RETORNO PARA A CAPTAÇÃO É INDIRETO E POSTERIOR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O indicador fortalece o relatório anual, mas só converte em receita num ciclo seguinte, fora da janela do módulo.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Reconciliação</a:t>
            </a:r>
          </a:p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dos dados divergentes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Onde as fontes discordam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2103120"/>
                <a:gridCol w="22860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Dado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Dossiê de Campo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Relatório Anual 2025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Nossa decisão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Crianças atendidas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120 [provisório]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129 alunos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Adotar 129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Unidade de contagem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Não resolvida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Custo ÷ 129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Matrícula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Laboratório de Sonhos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60, de 7 a 11 anos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60, de 6 a 11 anos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Adotar 6 a 11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Reforço escolar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40 crianças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40 ao dia, 58 no ano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40 vagas, 58 fluxo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Dado acadêmico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Chega 1x por ano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Mini Mapa quinzenal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Aberto ao parceiro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Vivência terapêutica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2 turmas, sem volume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2 turmas de 12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Adotar 24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A divergência que destrava a 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O dossiê afirma que a unidade de contagem, criança ou matrícula, é a primeira decisão de modelagem, e que nenhuma afirmação de impacto é verificável antes dela. O Relatório 2025 responde sem declarar que responde.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A ARITMÉTICA DO PRÓPRIO INSTITUTO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Despesa total 2025 de R$ 146.668,38 ÷ 129 = R$ 1.136,96, exatamente o custo anual por aluno publicado. O denominador contábil da organização é 129.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CONSEQUÊNCIA ADOTADA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Modelamos MATRÍCULA como unidade, não criança única. Quantas crianças únicas existem por trás das 129 segue sendo pergunta aberta, e nenhuma afirmação de cobertura será feita antes da resposta.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Lean Canvas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Lean Canvas · 1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PROBLEMA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1. A evolução socioemocional não tem instrumento nem série histórica. 2. A presença tem cobertura total e conteúdo mínimo. 3. O único dado longitudinal cobre um programa de quatro.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ALTERNATIVAS EXISTENTES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Planilha de presença mantida pela equipe, relatório anual textual e retrospectivo, observação clínica que não circula entre profissionais.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SEGMENTOS DE CLIENTES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Usuária primária: coordenação pedagógica. Early adopters: as educadoras do sábado. Beneficiário indireto: diretoria e financiadores.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Lean Canvas · 2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PROPOSTA DE VALOR ÚNICA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Transformar a observação do sábado em evidência agregada que o Instituto pode mostrar a quem financia, em menos de dois minutos por sessão e sem tocar em dado clínico.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SOLUÇÃO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Registro categórico da aspiração declarada e da exposição do sábado, preenchido em bloco pela educadora. Painel agregado por turma, nunca individual.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VANTAGEM INJUSTA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Desenhado desde a origem dentro do perímetro legal desta operação. Ferramenta genérica de gestão de ONG não resolve essa barreira.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Lean Canvas ·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MÉTRICAS-CHAVE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Cobertura de registro por sessão, tempo médio de preenchimento e amplitude de categorias por turma.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CANAIS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Uso interno pela equipe no próprio sábado. O resultado circula pelo relatório anual.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ESTRUTURA DE CUSTOS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Configuração pelo grupo, custo zero. A assinatura no-code entra como risco, não como linha de custo.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FONTES DE RECEITA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Não monetário. O retorno é reduzir o risco de prestação de contas e fortalecer a captação.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Product Vision 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600" b="0" i="0">
                <a:solidFill>
                  <a:srgbClr val="FF4545"/>
                </a:solidFill>
                <a:latin typeface="Platypi"/>
              </a:defRPr>
            </a:pPr>
            <a:r>
              <a:rPr sz="9600" b="0" i="0">
                <a:solidFill>
                  <a:srgbClr val="FF4545"/>
                </a:solidFill>
                <a:latin typeface="Platyp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2560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40000"/>
              </a:lnSpc>
              <a:defRPr sz="2200" b="0" i="0">
                <a:solidFill>
                  <a:srgbClr val="FFFFFF"/>
                </a:solidFill>
                <a:latin typeface="Platypi"/>
              </a:defRPr>
            </a:pPr>
            <a:r>
              <a:rPr sz="2200" b="0" i="0">
                <a:solidFill>
                  <a:srgbClr val="FFFFFF"/>
                </a:solidFill>
                <a:latin typeface="Platypi"/>
              </a:rPr>
              <a:t>Afirmar, com evidência verificável, que o</a:t>
            </a:r>
          </a:p>
          <a:p>
            <a:pPr algn="l">
              <a:lnSpc>
                <a:spcPct val="140000"/>
              </a:lnSpc>
              <a:defRPr sz="2200" b="0" i="0">
                <a:solidFill>
                  <a:srgbClr val="FFFFFF"/>
                </a:solidFill>
                <a:latin typeface="Platypi"/>
              </a:defRPr>
            </a:pPr>
            <a:r>
              <a:rPr sz="2200" b="0" i="0">
                <a:solidFill>
                  <a:srgbClr val="FFFFFF"/>
                </a:solidFill>
                <a:latin typeface="Platypi"/>
              </a:rPr>
              <a:t>repertório de futuro de uma criança cresceu,</a:t>
            </a:r>
          </a:p>
          <a:p>
            <a:pPr algn="l">
              <a:lnSpc>
                <a:spcPct val="140000"/>
              </a:lnSpc>
              <a:defRPr sz="2200" b="0" i="0">
                <a:solidFill>
                  <a:srgbClr val="FFFFFF"/>
                </a:solidFill>
                <a:latin typeface="Platypi"/>
              </a:defRPr>
            </a:pPr>
            <a:r>
              <a:rPr sz="2200" b="0" i="0">
                <a:solidFill>
                  <a:srgbClr val="FFFFFF"/>
                </a:solidFill>
                <a:latin typeface="Platypi"/>
              </a:rPr>
              <a:t>sem nunca expor a intimidade de nenhuma delas.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100" b="1" i="0">
                <a:solidFill>
                  <a:srgbClr val="E6EAEB"/>
                </a:solidFill>
                <a:latin typeface="Manrope"/>
              </a:defRPr>
            </a:pPr>
            <a:r>
              <a:rPr sz="1100" b="1" i="0" spc="100">
                <a:solidFill>
                  <a:srgbClr val="E6EAEB"/>
                </a:solidFill>
                <a:latin typeface="Manrope"/>
              </a:rPr>
              <a:t>VISÃO DE LONGO PRAZO · PRODUCT VISION BOARD</a:t>
            </a:r>
          </a:p>
        </p:txBody>
      </p:sp>
      <p:pic>
        <p:nvPicPr>
          <p:cNvPr id="5" name="Picture 4" descr="inteli-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Os quatro blocos que sustentam a 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SEGMENTO-ALVO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Equipe pedagógica e voluntária que atua com as crianças aos sábados, e a coordenação do relatório anual.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NECESSIDADES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Registrar evolução rápida e agregada, ter dado para prestação de contas, não invadir o sigilo clínico.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PRODUTO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Indicador de programa leve, preenchido em menos de dois minutos por sessão, com painel agregado em no-code.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OBJETIVOS DE NEGÓCIO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Preencher a maior fragilidade do relatório anual e criar uma prática de registro que sobreviva à semana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Hipóteses críticas</a:t>
            </a:r>
          </a:p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priorizadas por risco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O que precisa ser verdade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2926080"/>
                <a:gridCol w="14630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#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Hipótese crítica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Se for falsa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Risco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H1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 equipe registra sem perder tempo de atendimento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O indicador não existe na prática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Crítico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H2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 aspiração muda de forma detectável no ciclo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O instrumento mede ruído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Crítico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H3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Os campos se sustentam como indicador de programa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Inviável por construção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Crítico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H4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Financiador aceita repertório como evidência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O dado não converte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Alto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H5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Alguém opera a solução após a semana 10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 solução para em outubro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Alto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H6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O tier gratuito comporta o volume do ano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Custo sem receita garantida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Médio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Desenho de validação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5272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527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H3 primeiro, porque é eliminatória: cada campo proposto responde base legal, titular, acesso e retenção, e a fronteira é validada com a psicóloga.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6712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671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488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H1 em piloto de 4 semanas com 3 educadoras do Laboratório de Sonhos. Sucesso: 80% das sessões registradas e tempo médio abaixo de 2 minutos.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8152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632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H2 por dupla medição com 6 semanas de intervalo na mesma turma. Sem variação detectável, a periodicidade vira semestral em vez de mensal.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95927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9592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77639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Dados sintéticos em todas as etapas. Nenhum teste roda sobre dado real de criança.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Perguntas dirigidas ao parceiro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77240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Quantas crianças únicas existem por trás das 129 matrículas? [organização]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Quais campos a planilha de presença contém hoje, e desde quando? [organização]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O Mini Mapa quinzenal do Alicerce chega ao Instituto, ou só o consolidado anual? [organização]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Quem operaria a solução depois da semana 10, e com quanto tempo por semana? [organização]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Onde a psicóloga traça a fronteira entre observação clínica e informação de programa? [organização]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Que evidência de impacto socioemocional um financiador corporativo aceita? [pesquisa]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Escopo do MVP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O que entra no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496312" cy="1828800"/>
          </a:xfrm>
          <a:prstGeom prst="rect">
            <a:avLst/>
          </a:prstGeom>
          <a:solidFill>
            <a:srgbClr val="E6EAEB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 spc="100">
                <a:solidFill>
                  <a:srgbClr val="066D73"/>
                </a:solidFill>
                <a:latin typeface="Manrope"/>
              </a:rPr>
              <a:t>RECORTE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130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2E2640"/>
                </a:solidFill>
                <a:latin typeface="Platypi"/>
              </a:defRPr>
            </a:pPr>
            <a:r>
              <a:rPr sz="1400" b="0" i="0">
                <a:solidFill>
                  <a:srgbClr val="2E2640"/>
                </a:solidFill>
                <a:latin typeface="Platypi"/>
              </a:rPr>
              <a:t>Um programa só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000" b="0" i="0">
                <a:solidFill>
                  <a:srgbClr val="2E2640"/>
                </a:solidFill>
                <a:latin typeface="Manrope"/>
              </a:defRPr>
            </a:pPr>
            <a:r>
              <a:rPr sz="1000" b="0" i="0">
                <a:solidFill>
                  <a:srgbClr val="2E2640"/>
                </a:solidFill>
                <a:latin typeface="Manrope"/>
              </a:rPr>
              <a:t>Laboratório de Sonhos, 60 crianças, 2 turmas. Maior volume, menor risco legal e nenhum consumo de tempo clínico.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9272" y="1143000"/>
            <a:ext cx="2496312" cy="1828800"/>
          </a:xfrm>
          <a:prstGeom prst="rect">
            <a:avLst/>
          </a:prstGeom>
          <a:solidFill>
            <a:srgbClr val="E6EAEB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28016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 spc="100">
                <a:solidFill>
                  <a:srgbClr val="066D73"/>
                </a:solidFill>
                <a:latin typeface="Manrope"/>
              </a:rPr>
              <a:t>CAMPOS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554480"/>
            <a:ext cx="2130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2E2640"/>
                </a:solidFill>
                <a:latin typeface="Platypi"/>
              </a:defRPr>
            </a:pPr>
            <a:r>
              <a:rPr sz="1400" b="0" i="0">
                <a:solidFill>
                  <a:srgbClr val="2E2640"/>
                </a:solidFill>
                <a:latin typeface="Platypi"/>
              </a:rPr>
              <a:t>Categórico, nunca narrativo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011680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000" b="0" i="0">
                <a:solidFill>
                  <a:srgbClr val="2E2640"/>
                </a:solidFill>
                <a:latin typeface="Manrope"/>
              </a:defRPr>
            </a:pPr>
            <a:r>
              <a:rPr sz="1000" b="0" i="0">
                <a:solidFill>
                  <a:srgbClr val="2E2640"/>
                </a:solidFill>
                <a:latin typeface="Manrope"/>
              </a:rPr>
              <a:t>Aspiração declarada em vocabulário fechado, exposição do sábado, e se a criança nomeia um passo do percurso.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3" y="1143000"/>
            <a:ext cx="2496312" cy="1828800"/>
          </a:xfrm>
          <a:prstGeom prst="rect">
            <a:avLst/>
          </a:prstGeom>
          <a:solidFill>
            <a:srgbClr val="E6EAEB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128016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 spc="100">
                <a:solidFill>
                  <a:srgbClr val="066D73"/>
                </a:solidFill>
                <a:latin typeface="Manrope"/>
              </a:rPr>
              <a:t>SAÍDA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1554480"/>
            <a:ext cx="2130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2E2640"/>
                </a:solidFill>
                <a:latin typeface="Platypi"/>
              </a:defRPr>
            </a:pPr>
            <a:r>
              <a:rPr sz="1400" b="0" i="0">
                <a:solidFill>
                  <a:srgbClr val="2E2640"/>
                </a:solidFill>
                <a:latin typeface="Platypi"/>
              </a:rPr>
              <a:t>Painel agregado por turma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2011680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000" b="0" i="0">
                <a:solidFill>
                  <a:srgbClr val="2E2640"/>
                </a:solidFill>
                <a:latin typeface="Manrope"/>
              </a:defRPr>
            </a:pPr>
            <a:r>
              <a:rPr sz="1000" b="0" i="0">
                <a:solidFill>
                  <a:srgbClr val="2E2640"/>
                </a:solidFill>
                <a:latin typeface="Manrope"/>
              </a:rPr>
              <a:t>Amplitude de categorias, cobertura de declaração e repertório novo. Nenhuma visão individual, em nenhum perfil.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O que fica deliberadamente fora, e por quê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804672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5720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Fica fora do MVP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Restrição do bloco 5 ou 6 que determina isso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Conteúdo clínico individual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Sigilo profissional e Art. 11 da LGPD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Qualquer fluxo com ação da criança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Todo o público atendido é menor de idade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Aplicativo para o responsável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Acesso digital das famílias não caracterizado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Coleta diária ou semanal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Voluntários disponíveis majoritariamente aos sábados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Integração com o sistema do Alicerce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Não há equipe de tecnologia para manter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Preenchimento pela psicóloga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O tempo dela é clínico, e a troca seria explícita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Plataforma paga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Sem orçamento para licença recorrente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Os outros três programas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Escopo: entram como incremento depois do piloto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Perímetro ético aplicado ao desenho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A Regra 3 do bloco 6 exige quatro respostas por campo proposto. Campo sem as quatro não entra no protótipo. Exemplo do campo central: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CAMPO · ASPIRAÇÃO PROFISSIONAL DECLARADA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Base legal: legítimo interesse, com aviso ao responsável no ato da matrícula.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Titular: a criança, representada pelo responsável.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Acesso: educadora que registra e coordenação. Painel só exibe agregado.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Retenção: dado individual por 12 meses; depois só o agregado da turma.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A distinção que organiza tudo: a demanda parece pedir registro clínico e só pode ser atendida por indicador de programa.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Versoes oficiais da marca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LOG-01: fundo claro usa a prioritaria positiva (roxo), fundo escuro usa a prioritaria negativa (branco). A monocromatica entra por restricao real de impressao ou acabamento, nunca por preferencia estetica. LOG-02: mantenha o resguardo em todos os lados, inclusive contra a borda.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57400"/>
            <a:ext cx="1463040" cy="795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999232"/>
            <a:ext cx="246887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Roxo — PRIORITARIA POSITIVA</a:t>
            </a:r>
          </a:p>
          <a:p>
            <a:pPr algn="ctr">
              <a:lnSpc>
                <a:spcPct val="120000"/>
              </a:lnSpc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padrao em fundo claro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737360"/>
            <a:ext cx="2651760" cy="1828800"/>
          </a:xfrm>
          <a:prstGeom prst="rect">
            <a:avLst/>
          </a:prstGeom>
          <a:solidFill>
            <a:srgbClr val="2E2640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teli-logo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057400"/>
            <a:ext cx="1463040" cy="795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9000" y="2999232"/>
            <a:ext cx="246887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defRPr sz="900" b="0" i="0">
                <a:solidFill>
                  <a:srgbClr val="FFFFFF"/>
                </a:solidFill>
                <a:latin typeface="Manrope"/>
              </a:defRPr>
            </a:pPr>
            <a:r>
              <a:rPr sz="900" b="0" i="0">
                <a:solidFill>
                  <a:srgbClr val="FFFFFF"/>
                </a:solidFill>
                <a:latin typeface="Manrope"/>
              </a:rPr>
              <a:t>Branco — PRIORITARIA NEGATIVA</a:t>
            </a:r>
          </a:p>
          <a:p>
            <a:pPr algn="ctr">
              <a:lnSpc>
                <a:spcPct val="120000"/>
              </a:lnSpc>
              <a:defRPr sz="900" b="0" i="0">
                <a:solidFill>
                  <a:srgbClr val="FFFFFF"/>
                </a:solidFill>
                <a:latin typeface="Manrope"/>
              </a:defRPr>
            </a:pPr>
            <a:r>
              <a:rPr sz="900" b="0" i="0">
                <a:solidFill>
                  <a:srgbClr val="FFFFFF"/>
                </a:solidFill>
                <a:latin typeface="Manrope"/>
              </a:rPr>
              <a:t>padrao em fundo escuro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1737360"/>
            <a:ext cx="2651760" cy="1828800"/>
          </a:xfrm>
          <a:prstGeom prst="rect">
            <a:avLst/>
          </a:prstGeom>
          <a:solidFill>
            <a:srgbClr val="2E2640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teli-logo-branco-mo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57400"/>
            <a:ext cx="1463040" cy="795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19" y="2999232"/>
            <a:ext cx="246887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defRPr sz="900" b="0" i="0">
                <a:solidFill>
                  <a:srgbClr val="FFFFFF"/>
                </a:solidFill>
                <a:latin typeface="Manrope"/>
              </a:defRPr>
            </a:pPr>
            <a:r>
              <a:rPr sz="900" b="0" i="0">
                <a:solidFill>
                  <a:srgbClr val="FFFFFF"/>
                </a:solidFill>
                <a:latin typeface="Manrope"/>
              </a:rPr>
              <a:t>Branco mono — MONOCROMATICA</a:t>
            </a:r>
          </a:p>
          <a:p>
            <a:pPr algn="ctr">
              <a:lnSpc>
                <a:spcPct val="120000"/>
              </a:lnSpc>
              <a:defRPr sz="900" b="0" i="0">
                <a:solidFill>
                  <a:srgbClr val="FFFFFF"/>
                </a:solidFill>
                <a:latin typeface="Manrope"/>
              </a:defRPr>
            </a:pPr>
            <a:r>
              <a:rPr sz="900" b="0" i="0">
                <a:solidFill>
                  <a:srgbClr val="FFFFFF"/>
                </a:solidFill>
                <a:latin typeface="Manrope"/>
              </a:rPr>
              <a:t>so por restricao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Sem ativo no kit: preto e branco no lado preto, monocromatica em cor que nao seja branco, marca com assinatura, simbolo isolado e brasao. Peca o arquivo oficial a equipe de marketing.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  •  Versoes oficiais da marca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28800"/>
            <a:ext cx="20116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1400" b="0" i="0">
                <a:solidFill>
                  <a:srgbClr val="FFFFFF"/>
                </a:solidFill>
                <a:latin typeface="Manrope"/>
              </a:defRPr>
            </a:pPr>
            <a:r>
              <a:rPr sz="1400" b="0" i="0">
                <a:solidFill>
                  <a:srgbClr val="FFFFFF"/>
                </a:solidFill>
                <a:latin typeface="Manrope"/>
              </a:rPr>
              <a:t>Instituto Ebenézer · Módulo 3 · Semana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900" b="0" i="0">
                <a:solidFill>
                  <a:srgbClr val="E6EAEB"/>
                </a:solidFill>
                <a:latin typeface="Manrope"/>
              </a:defRPr>
            </a:pPr>
            <a:r>
              <a:rPr sz="900" b="0" i="0">
                <a:solidFill>
                  <a:srgbClr val="E6EAEB"/>
                </a:solidFill>
                <a:latin typeface="Manrope"/>
              </a:rPr>
              <a:t>inteli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Monitoramento de Impacto no Instituto Ebenezer</dc:title>
  <dc:subject/>
  <dc:creator>Leticia Fulgencio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