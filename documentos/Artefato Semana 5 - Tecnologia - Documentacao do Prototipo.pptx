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3600" b="0" i="0">
                <a:solidFill>
                  <a:srgbClr val="2E2640"/>
                </a:solidFill>
                <a:latin typeface="Platypi"/>
              </a:defRPr>
            </a:pPr>
            <a:r>
              <a:rPr sz="3600" b="0" i="0">
                <a:solidFill>
                  <a:srgbClr val="2E2640"/>
                </a:solidFill>
                <a:latin typeface="Platypi"/>
              </a:rPr>
              <a:t>Protótipo de Interface</a:t>
            </a:r>
          </a:p>
          <a:p>
            <a:pPr algn="l">
              <a:lnSpc>
                <a:spcPct val="110000"/>
              </a:lnSpc>
              <a:defRPr sz="3600" b="0" i="0">
                <a:solidFill>
                  <a:srgbClr val="2E2640"/>
                </a:solidFill>
                <a:latin typeface="Platypi"/>
              </a:defRPr>
            </a:pPr>
            <a:r>
              <a:rPr sz="3600" b="0" i="0">
                <a:solidFill>
                  <a:srgbClr val="2E2640"/>
                </a:solidFill>
                <a:latin typeface="Platypi"/>
              </a:rPr>
              <a:t>Navegável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2900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400" b="0" i="0">
                <a:solidFill>
                  <a:srgbClr val="2E2640"/>
                </a:solidFill>
                <a:latin typeface="Manrope"/>
              </a:defRPr>
            </a:pPr>
            <a:r>
              <a:rPr sz="1400" b="0" i="0">
                <a:solidFill>
                  <a:srgbClr val="2E2640"/>
                </a:solidFill>
                <a:latin typeface="Manrope"/>
              </a:rPr>
              <a:t>Artefato de Tecnologia · Semana 5 · Módulo 3</a:t>
            </a:r>
          </a:p>
          <a:p>
            <a:pPr algn="l">
              <a:lnSpc>
                <a:spcPct val="130000"/>
              </a:lnSpc>
              <a:defRPr sz="1400" b="0" i="0">
                <a:solidFill>
                  <a:srgbClr val="2E2640"/>
                </a:solidFill>
                <a:latin typeface="Manrope"/>
              </a:defRPr>
            </a:pPr>
            <a:r>
              <a:rPr sz="1400" b="0" i="0">
                <a:solidFill>
                  <a:srgbClr val="2E2640"/>
                </a:solidFill>
                <a:latin typeface="Manrope"/>
              </a:rPr>
              <a:t>Documentação de suporte · Instituto Ebenézer · Letícia Fulgêncio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esta documentação acompanha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50" b="0" i="0">
                <a:solidFill>
                  <a:srgbClr val="2E2640"/>
                </a:solidFill>
                <a:latin typeface="Manrope"/>
              </a:defRPr>
            </a:pPr>
            <a:r>
              <a:rPr sz="1150" b="0" i="0">
                <a:solidFill>
                  <a:srgbClr val="2E2640"/>
                </a:solidFill>
                <a:latin typeface="Manrope"/>
              </a:rPr>
              <a:t>O protótipo navegável cobre o fluxo de registro do indicador de repertório no Laboratório de Sonhos, recorte definido no artefato de Negócios.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CONTEÚDO DESTE DOCUMENTO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Persona do usuário principal, jornada atual e futura, cinco User Stories com critérios de aceite, fluxo de navegação com inventário de telas, e o protocolo de validação com usuário real.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O QUE AINDA DEPENDE DE VOCÊ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A validação com usuário real ainda não foi executada. O protocolo está pronto no slide 21 e a ficha de registro no slide 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Persona do</a:t>
            </a:r>
          </a:p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usuário principal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Marli, 47 anos, coordenadora pedagógica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PERFIL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Pedagoga, coordena o Laboratório de Sonhos e está no Instituto há seis anos. Conduz as duas turmas de sábado, das 12h às 16h.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COMPORTAMENTO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Resolve tudo pelo celular. Anota em papel durante a oficina e transcreve depois, quando lembra. Recusa ferramenta que exija treinamento.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RELAÇÃO COM O PRODUTO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Vai usar a solução em pé, no fim da oficina, com crianças ainda na sala. Se o registro competir com a atenção à criança, a criança ganha.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 que move a Marli e o que a trava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NECESSIDADES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Registrar sem interromper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Um registro que caiba no intervalo entre guardar o material e liberar as crianças. Nada que exija sentar e abrir computador.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DIFICULDADES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A memória não 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Ela percebe mudanças nas crianças e não consegue provar nenhuma. No fim do ano, escreve o relatório com adjetivo.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3" y="1143000"/>
            <a:ext cx="2496312" cy="1828800"/>
          </a:xfrm>
          <a:prstGeom prst="rect">
            <a:avLst/>
          </a:prstGeom>
          <a:solidFill>
            <a:srgbClr val="E6EAEB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2801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 spc="100">
                <a:solidFill>
                  <a:srgbClr val="066D73"/>
                </a:solidFill>
                <a:latin typeface="Manrope"/>
              </a:rPr>
              <a:t>MOTIVAÇÕES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1554480"/>
            <a:ext cx="2130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2E2640"/>
                </a:solidFill>
                <a:latin typeface="Platypi"/>
              </a:defRPr>
            </a:pPr>
            <a:r>
              <a:rPr sz="1400" b="0" i="0">
                <a:solidFill>
                  <a:srgbClr val="2E2640"/>
                </a:solidFill>
                <a:latin typeface="Platypi"/>
              </a:rPr>
              <a:t>Ser levada a sério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011680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1000" b="0" i="0">
                <a:solidFill>
                  <a:srgbClr val="2E2640"/>
                </a:solidFill>
                <a:latin typeface="Manrope"/>
              </a:defRPr>
            </a:pPr>
            <a:r>
              <a:rPr sz="1000" b="0" i="0">
                <a:solidFill>
                  <a:srgbClr val="2E2640"/>
                </a:solidFill>
                <a:latin typeface="Manrope"/>
              </a:rPr>
              <a:t>Quer que o trabalho do sábado apareça na conversa com financiador com o mesmo peso que a nota escolar aparece.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600" b="0" i="0">
                <a:solidFill>
                  <a:srgbClr val="FF4545"/>
                </a:solidFill>
                <a:latin typeface="Platypi"/>
              </a:defRPr>
            </a:pPr>
            <a:r>
              <a:rPr sz="9600" b="0" i="0">
                <a:solidFill>
                  <a:srgbClr val="FF4545"/>
                </a:solidFill>
                <a:latin typeface="Platyp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0000"/>
              </a:lnSpc>
              <a:defRPr sz="2200" b="0" i="0">
                <a:solidFill>
                  <a:srgbClr val="FFFFFF"/>
                </a:solidFill>
                <a:latin typeface="Platypi"/>
              </a:defRPr>
            </a:pPr>
            <a:r>
              <a:rPr sz="2200" b="0" i="0">
                <a:solidFill>
                  <a:srgbClr val="FFFFFF"/>
                </a:solidFill>
                <a:latin typeface="Platypi"/>
              </a:rPr>
              <a:t>Eu sei que a criança mudou.</a:t>
            </a:r>
          </a:p>
          <a:p>
            <a:pPr algn="l">
              <a:lnSpc>
                <a:spcPct val="140000"/>
              </a:lnSpc>
              <a:defRPr sz="2200" b="0" i="0">
                <a:solidFill>
                  <a:srgbClr val="FFFFFF"/>
                </a:solidFill>
                <a:latin typeface="Platypi"/>
              </a:defRPr>
            </a:pPr>
            <a:r>
              <a:rPr sz="2200" b="0" i="0">
                <a:solidFill>
                  <a:srgbClr val="FFFFFF"/>
                </a:solidFill>
                <a:latin typeface="Platypi"/>
              </a:rPr>
              <a:t>Eu simplesmente não consigo provar.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1" i="0">
                <a:solidFill>
                  <a:srgbClr val="E6EAEB"/>
                </a:solidFill>
                <a:latin typeface="Manrope"/>
              </a:defRPr>
            </a:pPr>
            <a:r>
              <a:rPr sz="1100" b="1" i="0" spc="100">
                <a:solidFill>
                  <a:srgbClr val="E6EAEB"/>
                </a:solidFill>
                <a:latin typeface="Manrope"/>
              </a:rPr>
              <a:t>MARLI · FALA DE PERSONA CONSTRUÍDA A PARTIR DO DOSSIÊ</a:t>
            </a:r>
          </a:p>
        </p:txBody>
      </p:sp>
      <p:pic>
        <p:nvPicPr>
          <p:cNvPr id="5" name="Picture 4" descr="inteli-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Usuário secundário e não usuários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SECUNDÁRIO · EDUCADORA VOLUNTÁRIA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Registra quando a Marli não está. Usa o mesmo fluxo, sem permissão para exportar. É o teste real de simplicidade: se ela não consegue, o fluxo falhou.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CONSOME, MAS NÃO OPERA · DIRETORIA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Recebe a página do ciclo pronta. Não entra no sistema.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NÃO É USUÁRIA · PSICÓLOGA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tempo dela é clínico e o registro dela é sigiloso. Nenhuma tela pede ação dela, por decisão de desenho.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NÃO É USUÁRIA · A CRIANÇA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Todo o público é menor de idade. Nenhum fluxo depende de ação da criança e ela não tem acesso ao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Jornada do usuário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Jornada atual: o sábado da Marli hoje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Fase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O que ela faz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Onde trava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Antes do sábado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Confere a lista de presença em papel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Não sabe o que se viu no sábado anterior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Durante a oficina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Conduz a atividade e observa as crianças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observação existe só na memória dela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Fim da oficina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Guarda material e libera as crianças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Não há momento nem lugar para registrar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Semana seguinte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Outra profissional atende a mesma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Começa do zero, sem saber o que já se viu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Fim do ano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Escreve o relatório anual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Descreve com adjetivo, porque não tem número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Os três atritos a resolver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ATRITO 01 · A JANELA DE REGISTRO NÃO EXISTE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Entre o fim da oficina e a saída das crianças há poucos minutos, em pé. Qualquer fluxo que exija mais do que isso não roda.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ATRITO 02 · A OBSERVAÇÃO NÃO CIRCULA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que uma profissional percebe não chega a quem atende a mesma criança em outro momento ou em outro programa.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ATRITO 03 · O ANO INTEIRO VIRA UM ADJETIVO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Sem série, o relatório afirma que houve desenvolvimento e não consegue mostrar a diferença entre o começo e o fim do ciclo.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Jornada futura do mesmo sábado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Fase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O que passa a acontecer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Efeito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Antes do sábado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Abre a turma e vê o resumo do último encontro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Chega sabendo o que já foi observado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Durante a oficina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Conduz a atividade exatamente como hoje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condução não muda em nada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Fim da oficina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Registra a turma em bloco, em menos de 2 minutos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Registra com a memória ainda fresca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Semana seguinte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colega abre a mesma turma e vê o agregado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observação circula sem virar prontuário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Fim do ano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Exporta a página do ciclo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O relatório ganha número, não só adjetivo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User 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As cinco histórias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77240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US1. Como coordenadora, quero registrar a aspiração declarada de cada criança ao fim do sábado, para não depender da minha memória.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US2. Como coordenadora, quero registrar a que profissional ou atividade a turma foi exposta, para relacionar exposição e mudança.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US3. Como coordenadora, quero ver o indicador agregado da turma, para levar evidência ao relatório sem expor criança nenhuma.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US4. Como coordenadora, quero registrar que a criança ainda não declarou aspiração, para que a ausência seja dado e não lacuna.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2E2640"/>
                </a:solidFill>
                <a:latin typeface="Manrope"/>
              </a:defRPr>
              <a:buFont typeface="Arial"/>
              <a:buChar char="●"/>
            </a:pPr>
            <a:r>
              <a:rPr sz="1300" b="0" i="0">
                <a:solidFill>
                  <a:srgbClr val="2E2640"/>
                </a:solidFill>
                <a:latin typeface="Manrope"/>
              </a:rPr>
              <a:t>US5. Como diretoria, quero exportar a página do ciclo, para anexar à prestação de contas de um financiador.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Critérios de aceite · US1 e US2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US1 · REGISTRAR A ASPIRAÇÃO DECLARADA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Dado que estou na lista de uma turma com a oficina encerrada,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quando seleciono uma criança e escolho uma categoria de aspiração,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então o registro é salvo e a lista avança para a próxima criança.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US2 · REGISTRAR A EXPOSIÇÃO DO DIA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Dado que estou fechando o registro de uma sessão,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quando informo qual profissional ou atividade a turma recebeu,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então a exposição é gravada uma única vez para a turma, não por criança.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Critérios de aceite · US3 e US4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US3 · VER O INDICADOR AGREGADO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Dado que abro o painel de uma turma,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quando a turma tem menos de cinco registros no período,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então o painel exibe o aviso de amostra insuficiente e nenhum percentual.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US4 · REGISTRAR AUSÊNCIA DE ASPIRAÇÃO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Dado que uma criança não declarou o que quer ser,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quando seleciono a opção ainda não declarou,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então isso conta como registro completo e entra na cobertura da sessão.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Critérios de aceite · US5 e nota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US5 · EXPORTAR A PÁGINA DO CICLO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Dado que o ciclo anual está encerrado,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quando solicito a exportação,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então recebo uma página com dados agregados por turma e nenhum nome de criança.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NOTA INVEST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As cinco histórias são independentes entre si e testáveis isoladamente. US1 é a menor fatia com valor: sozinha, ela já produz série histórica.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US3 depende de US1 ter rodado ao menos uma vez, o que é dependência de dado e não de implementação.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Fluxo de navegação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Inventário de telas do protótipo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467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Tela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Função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 i="0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anrope"/>
                        </a:rPr>
                        <a:t>Restrição de desenho</a:t>
                      </a:r>
                    </a:p>
                  </a:txBody>
                  <a:tcPr marL="88900" marR="88900" marT="63500" marB="63500" anchor="ctr">
                    <a:solidFill>
                      <a:srgbClr val="2E2640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01 Entrada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Seleção de turma e data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Sem cadastro individual de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02 Lista da turma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Chamada e status de registro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Mostra quem ainda falta registrar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03 Aspiração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Categoria declarada pela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Vocabulário fechado, sem texto livre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04 Percurso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 criança nomeia um passo da formação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Apenas sim ou não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05 Exposição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Profissional ou atividade do dia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Uma vez por sessão, não por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06 Confirmação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Resumo do que foi registrado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Exibe o tempo que o registro levou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07 Painel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Indicadores agregados da turma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Nenhuma linha individual, em nenhum perfil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08 Exportação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Página do ciclo para o relatório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 i="0">
                          <a:solidFill>
                            <a:srgbClr val="2E2640"/>
                          </a:solidFill>
                          <a:latin typeface="Manrope"/>
                        </a:defRPr>
                      </a:pPr>
                      <a:r>
                        <a:rPr sz="1000" b="0" i="0">
                          <a:solidFill>
                            <a:srgbClr val="2E2640"/>
                          </a:solidFill>
                          <a:latin typeface="Manrope"/>
                        </a:rPr>
                        <a:t>Só agregado, sem nome de criança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caced6"/>
                      </a:solidFill>
                      <a:prstDash val="solid"/>
                    </a:lnL>
                    <a:lnR w="6350" cap="flat" cmpd="sng" algn="ctr">
                      <a:solidFill>
                        <a:srgbClr val="caced6"/>
                      </a:solidFill>
                      <a:prstDash val="solid"/>
                    </a:lnR>
                    <a:lnT w="6350" cap="flat" cmpd="sng" algn="ctr">
                      <a:solidFill>
                        <a:srgbClr val="caced6"/>
                      </a:solidFill>
                      <a:prstDash val="solid"/>
                    </a:lnT>
                    <a:lnB w="6350" cap="flat" cmpd="sng" algn="ctr">
                      <a:solidFill>
                        <a:srgbClr val="caced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Fluxo principal e o ponto de decisão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Início. A Marli abre a turma do sábado. O app lista apenas as crianças daquela turma, já com a data preenchida.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48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Decisão por criança: a criança declarou aspiração? Não leva para ainda não declarou. Sim leva para a lista de categorias.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Ao fim da lista, a exposição do dia é registrada uma única vez para a turma inteira.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77639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Fim. A confirmação mostra o tempo gasto e o painel agregado atualiza. Nenhuma tela exibe criança individual.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Storyboard em quatro 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ATO 1 · CONTEXTO E DOR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Sábado, 16h. A oficina acabou, as crianças guardam o material e a Marli tem a sala esvaziando.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ATO 2 · GATILHO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Ela abre a turma no celular, em pé, enquanto as crianças se organizam para sair.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ATO 3 · INTERAÇÃO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Toca uma criança, escolhe a categoria, avança. Dez crianças em menos de dois minutos.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ATO 4 · BENEFÍCIO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painel mostra que a turma saiu de quatro para nove categorias de aspiração no ciclo.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103120"/>
            <a:ext cx="1463040" cy="27432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Validação com</a:t>
            </a:r>
          </a:p>
          <a:p>
            <a:pPr algn="l">
              <a:lnSpc>
                <a:spcPct val="110000"/>
              </a:lnSpc>
              <a:defRPr sz="4000" b="0" i="0">
                <a:solidFill>
                  <a:srgbClr val="2E2640"/>
                </a:solidFill>
                <a:latin typeface="Platypi"/>
              </a:defRPr>
            </a:pPr>
            <a:r>
              <a:rPr sz="4000" b="0" i="0">
                <a:solidFill>
                  <a:srgbClr val="2E2640"/>
                </a:solidFill>
                <a:latin typeface="Platypi"/>
              </a:rPr>
              <a:t>usuário real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Protocolo de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527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Quem: pelo menos uma pessoa que conduz o sábado de verdade. A coordenadora de educação ou uma voluntária do Laboratório de Sonhos.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48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Tarefa, dita em voz alta e sem ajuda: registre uma turma inteira de dez crianças no protótipo, do começo ao fim. Cronometre desde o primeiro toque.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Observe sem intervir: onde ela hesita, o que pergunta, o que tenta tocar e não funciona, e qual categoria ela não entende.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4545"/>
                </a:solidFill>
                <a:latin typeface="Manrope"/>
              </a:defRPr>
            </a:pPr>
            <a:r>
              <a:rPr sz="1400" b="1" i="0">
                <a:solidFill>
                  <a:srgbClr val="FF4545"/>
                </a:solidFill>
                <a:latin typeface="Manrop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77639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defRPr sz="1300" b="0" i="0">
                <a:solidFill>
                  <a:srgbClr val="2E2640"/>
                </a:solidFill>
                <a:latin typeface="Manrope"/>
              </a:defRPr>
            </a:pPr>
            <a:r>
              <a:rPr sz="1300" b="0" i="0">
                <a:solidFill>
                  <a:srgbClr val="2E2640"/>
                </a:solidFill>
                <a:latin typeface="Manrope"/>
              </a:rPr>
              <a:t>Critério de sucesso: abaixo de dois minutos para dez crianças, e nenhuma dúvida sobre o que cada categoria significa.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Ficha de registro da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Preencher depois de executar o teste. Esta ficha é o registro que o Guia do Aluno exige na entrega.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QUEM VALIDOU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Nome, função na organização e há quanto tempo atua no Laboratório de Sonhos.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COMO FOI FEITO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Data, duração, se foi presencial ou remoto, e qual versão do protótipo foi usada.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O QUE FOI MEDIDO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Tempo total para dez crianças, número de hesitações e tarefas concluídas sem ajuda.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PRINCIPAIS APRENDIZADOS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que travou, o que foi alterado no protótipo depois do teste, e o que ficou para a semana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Regras inegociáveis do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bloco 6 do dossiê é pré-requisito do artefato de tecnologia. Protótipo que desrespeite estas regras é inviável por construção, independentemente da qualidade da execução.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600" b="0" i="0">
                <a:solidFill>
                  <a:srgbClr val="2E2640"/>
                </a:solidFill>
                <a:latin typeface="Manrope"/>
              </a:defRPr>
            </a:pPr>
            <a:r>
              <a:rPr sz="600" b="0" i="0">
                <a:solidFill>
                  <a:srgbClr val="2E2640"/>
                </a:solidFill>
                <a:latin typeface="Manrope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01 · DADOS SINTÉTICOS, SEMPRE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Nenhuma tela do protótipo usa dado real de criança atendida. Os nomes são gerados.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02 · NENHUMA VISÃO INDIVIDUAL NO PAINEL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O registro é por criança, a leitura é por turma. Não existe perfil que veja trajetória individual.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03 · NENHUM CAMPO DE TEXTO LIVRE SOBRE COMPORTAMENTO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Texto livre sobre a criança viraria registro clínico. Todo campo é categórico.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000" b="1" i="0">
                <a:solidFill>
                  <a:srgbClr val="066D73"/>
                </a:solidFill>
                <a:latin typeface="Manrope"/>
              </a:defRPr>
            </a:pPr>
            <a:r>
              <a:rPr sz="1000" b="1" i="0">
                <a:solidFill>
                  <a:srgbClr val="066D73"/>
                </a:solidFill>
                <a:latin typeface="Manrope"/>
              </a:rPr>
              <a:t>04 · NENHUMA FOTO DE CRIANÇA</a:t>
            </a:r>
          </a:p>
          <a:p>
            <a:pPr algn="l">
              <a:lnSpc>
                <a:spcPct val="135000"/>
              </a:lnSpc>
              <a:spcAft>
                <a:spcPts val="800"/>
              </a:spcAft>
              <a:defRPr sz="1100" b="0" i="0">
                <a:solidFill>
                  <a:srgbClr val="2E2640"/>
                </a:solidFill>
                <a:latin typeface="Manrope"/>
              </a:defRPr>
            </a:pPr>
            <a:r>
              <a:rPr sz="1100" b="0" i="0">
                <a:solidFill>
                  <a:srgbClr val="2E2640"/>
                </a:solidFill>
                <a:latin typeface="Manrope"/>
              </a:rPr>
              <a:t>Nem no protótipo, nem na apresentação, nem na documentação.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0058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600" b="0" i="0">
                <a:solidFill>
                  <a:srgbClr val="2E2640"/>
                </a:solidFill>
                <a:latin typeface="Platypi"/>
              </a:defRPr>
            </a:pPr>
            <a:r>
              <a:rPr sz="2600" b="0" i="0">
                <a:solidFill>
                  <a:srgbClr val="2E2640"/>
                </a:solidFill>
                <a:latin typeface="Platypi"/>
              </a:rPr>
              <a:t>Versoes oficiais da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defRPr sz="1050" b="0" i="0">
                <a:solidFill>
                  <a:srgbClr val="2E2640"/>
                </a:solidFill>
                <a:latin typeface="Manrope"/>
              </a:defRPr>
            </a:pPr>
            <a:r>
              <a:rPr sz="1050" b="0" i="0">
                <a:solidFill>
                  <a:srgbClr val="2E2640"/>
                </a:solidFill>
                <a:latin typeface="Manrope"/>
              </a:rPr>
              <a:t>LOG-01: fundo claro usa a prioritaria positiva (roxo), fundo escuro usa a prioritaria negativa (branco). A monocromatica entra por restricao real de impressao ou acabamento, nunca por preferencia estetica. LOG-02: mantenha o resguardo em todos os lados, inclusive contra a borda.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li-log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1463040" cy="795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Roxo — PRIORITARIA POSITIVA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padrao em fundo claro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737360"/>
            <a:ext cx="2651760" cy="1828800"/>
          </a:xfrm>
          <a:prstGeom prst="rect">
            <a:avLst/>
          </a:prstGeom>
          <a:solidFill>
            <a:srgbClr val="2E2640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eli-logo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057400"/>
            <a:ext cx="1463040" cy="795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Branco — PRIORITARIA NEGATIVA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padrao em fundo escuro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737360"/>
            <a:ext cx="2651760" cy="1828800"/>
          </a:xfrm>
          <a:prstGeom prst="rect">
            <a:avLst/>
          </a:prstGeom>
          <a:solidFill>
            <a:srgbClr val="2E2640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teli-logo-branco-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1463040" cy="795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19" y="2999232"/>
            <a:ext cx="246887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Branco mono — MONOCROMATICA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FFFFFF"/>
                </a:solidFill>
                <a:latin typeface="Manrope"/>
              </a:defRPr>
            </a:pPr>
            <a:r>
              <a:rPr sz="900" b="0" i="0">
                <a:solidFill>
                  <a:srgbClr val="FFFFFF"/>
                </a:solidFill>
                <a:latin typeface="Manrope"/>
              </a:rPr>
              <a:t>so por restricao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Sem ativo no kit: preto e branco no lado preto, monocromatica em cor que nao seja branco, marca com assinatura, simbolo isolado e brasao. Peca o arquivo oficial a equipe de marketing.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900" b="0" i="0">
                <a:solidFill>
                  <a:srgbClr val="2E2640"/>
                </a:solidFill>
                <a:latin typeface="Manrope"/>
              </a:defRPr>
            </a:pPr>
            <a:r>
              <a:rPr sz="900" b="0" i="0">
                <a:solidFill>
                  <a:srgbClr val="2E2640"/>
                </a:solidFill>
                <a:latin typeface="Manrope"/>
              </a:rPr>
              <a:t>inteli  •  Versoes oficiais da marca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li-log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20116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1400" b="0" i="0">
                <a:solidFill>
                  <a:srgbClr val="FFFFFF"/>
                </a:solidFill>
                <a:latin typeface="Manrope"/>
              </a:defRPr>
            </a:pPr>
            <a:r>
              <a:rPr sz="1400" b="0" i="0">
                <a:solidFill>
                  <a:srgbClr val="FFFFFF"/>
                </a:solidFill>
                <a:latin typeface="Manrope"/>
              </a:rPr>
              <a:t>Instituto Ebenézer · Módulo 3 · Semana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defRPr sz="900" b="0" i="0">
                <a:solidFill>
                  <a:srgbClr val="E6EAEB"/>
                </a:solidFill>
                <a:latin typeface="Manrope"/>
              </a:defRPr>
            </a:pPr>
            <a:r>
              <a:rPr sz="900" b="0" i="0">
                <a:solidFill>
                  <a:srgbClr val="E6EAEB"/>
                </a:solidFill>
                <a:latin typeface="Manrope"/>
              </a:rPr>
              <a:t>inteli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Prototipo de Interface Navegavel - Documentacao</dc:title>
  <dc:subject/>
  <dc:creator>Leticia Fulgencio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